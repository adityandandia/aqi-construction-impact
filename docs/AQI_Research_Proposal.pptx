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T+Nr25587Cbju1ToNhoYhZohp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RESEARCH PROPOSAL  ·  2025–2026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777240"/>
            <a:ext cx="7772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Construction Intensity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&amp; Urban AQI Fluctuations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2743200"/>
            <a:ext cx="2286000" cy="36576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65760" y="283464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Does urban construction contribute to short-term air quality variability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beyond what weather alone can explain?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7947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0883E"/>
                </a:solidFill>
                <a:latin typeface="Georgia"/>
                <a:ea typeface="Georgia"/>
                <a:cs typeface="Georgia"/>
                <a:sym typeface="Georgia"/>
              </a:rPr>
              <a:t>21 Cities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4251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Across India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0" y="37947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0883E"/>
                </a:solidFill>
                <a:latin typeface="Georgia"/>
                <a:ea typeface="Georgia"/>
                <a:cs typeface="Georgia"/>
                <a:sym typeface="Georgia"/>
              </a:rPr>
              <a:t>6 Years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743200" y="4251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2015 – 2020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120640" y="37947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0883E"/>
                </a:solidFill>
                <a:latin typeface="Georgia"/>
                <a:ea typeface="Georgia"/>
                <a:cs typeface="Georgia"/>
                <a:sym typeface="Georgia"/>
              </a:rPr>
              <a:t>24,699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120640" y="42519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Data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0" y="4754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LightGBM  ·  FastAPI  ·  Open-Meteo  ·  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01  PROBLEM &amp; MOTIVATION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India's air quality crisis is well-documented. Its causes — less so.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1600200"/>
            <a:ext cx="2743200" cy="27432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7432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11480" y="22677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Construction Boom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1480" y="2670048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India added 40M+ urban housing units 2015–2020. Construction sites generate PM2.5, PM10 and coarse dust continuously — yet are excluded from most AQI models.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0" y="1600200"/>
            <a:ext cx="2743200" cy="27432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20040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37560" y="22677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Weather ≠ Full 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37560" y="2670048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Existing AQI forecasting models use weather (temp, wind, humidity) as primary predictors. Anthropogenic activity like construction is largely unmodelled.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126480" y="1600200"/>
            <a:ext cx="2743200" cy="27432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12648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63640" y="22677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The Research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63640" y="2670048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 ML study has quantified construction intensity's marginal contribution to AQI variability across Indian cities at scale. This research addresses that gap.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02  RESEARCH QUESTION &amp; HYPOTHESES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40080" y="7132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Georgia"/>
              <a:buNone/>
            </a:pPr>
            <a:r>
              <a:rPr b="0" i="1" lang="en-US" sz="15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To what extent does construction intensity contribute to short-term AQI variability beyond weather-based factors?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5760" y="1920240"/>
            <a:ext cx="4023360" cy="141732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65760" y="1920240"/>
            <a:ext cx="73152" cy="14173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94360" y="19933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H1 — Exposure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94360" y="233172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Construction activity significantly contributes to short-term PM2.5 / PM10 concentrations in Indian cities, independent of weather conditions.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54880" y="1920240"/>
            <a:ext cx="4023360" cy="141732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754880" y="1920240"/>
            <a:ext cx="73152" cy="141732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83480" y="19933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H2 —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83480" y="233172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Including construction intensity as a feature improves AQI prediction accuracy over a weather-only baseline on RMSE, MAE, and F1-score.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352044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Null: construction intensity provides no statistically significant improvement over weather-only features.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03  DATA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21 Indian cities  ·  2015–2020  ·  24,699 data points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74320" y="1143000"/>
            <a:ext cx="2743200" cy="31089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365760" y="11704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AQI &amp; Pollutants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84048" y="1600200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PM2.5 (µg/m³)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84048" y="203911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PM10 (µg/m³)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84048" y="247802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AQI Composite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4048" y="291693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Historical daily readings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84048" y="3355848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CPCB-aligned measurements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200400" y="1143000"/>
            <a:ext cx="2743200" cy="31089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200400" y="1143000"/>
            <a:ext cx="2743200" cy="34747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291840" y="11704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Weather (Open-Meteo)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310128" y="1600200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Temperature (°C)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310128" y="203911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Relative Humidity (%)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310128" y="247802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 Speed (km/h)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310128" y="291693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 Direction (°)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310128" y="3355848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Real API pull, not synthetic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126480" y="1143000"/>
            <a:ext cx="2743200" cy="31089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126480" y="1143000"/>
            <a:ext cx="2743200" cy="347472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217920" y="11704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Construction Intensity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236208" y="1600200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Simulated proxy variable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236208" y="203911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Time + city-based schedule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236208" y="247802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Seasonal activity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236208" y="291693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Primary limitation — see Slide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236208" y="3355848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›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Future: real construction permit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11480" y="446227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Cities: Ahmedabad · Aizawl · Amaravati · Amritsar · Bengaluru · Bhopal · Chandigarh · Chennai · Delhi · Gurugram · Guwahati · Hyderabad · Jaipur · Jorapokhar · Kolkata · Lucknow · Mumbai · Patna · Shillong · Talcher · Thiruvananthapuram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04  METHODOLOGY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Two-model comparison approach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74320" y="1143000"/>
            <a:ext cx="3931920" cy="32004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274320" y="1143000"/>
            <a:ext cx="3931920" cy="36576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65760" y="117043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MODEL A  — 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65760" y="16002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Georgia"/>
                <a:ea typeface="Georgia"/>
                <a:cs typeface="Georgia"/>
                <a:sym typeface="Georgia"/>
              </a:rPr>
              <a:t>Weather-Only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201168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7200" y="23957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277977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 Speed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316382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 Direction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354787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Temporal features (hour, month)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65760" y="3977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LightGBM Regressor + Classifier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297680" y="2377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0883E"/>
                </a:solidFill>
                <a:latin typeface="Georgia"/>
                <a:ea typeface="Georgia"/>
                <a:cs typeface="Georgia"/>
                <a:sym typeface="Georgia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937760" y="1143000"/>
            <a:ext cx="3931920" cy="32004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937760" y="1143000"/>
            <a:ext cx="3931920" cy="36576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029200" y="117043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MODEL B  —  EXTENDED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029200" y="16002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Georgia"/>
                <a:ea typeface="Georgia"/>
                <a:cs typeface="Georgia"/>
                <a:sym typeface="Georgia"/>
              </a:rPr>
              <a:t>Weather + Construction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120640" y="2011680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120640" y="2340864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120640" y="2670048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 Speed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120640" y="2999232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Wind Direction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120640" y="3328416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Temporal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120640" y="3657600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· Construction Intensity (proxy)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29200" y="3977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LightGBM Regressor + Classifier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05  RESULTS  —  MODEL A vs MODEL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Construction features improve AQI prediction across all regression metrics and spike recall.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74320" y="868680"/>
            <a:ext cx="5166360" cy="32918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274320" y="868680"/>
            <a:ext cx="5166360" cy="310896"/>
          </a:xfrm>
          <a:prstGeom prst="rect">
            <a:avLst/>
          </a:prstGeom>
          <a:solidFill>
            <a:srgbClr val="26304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84048" y="88696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REGRESSION  —  AQI Delta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29184" y="1225296"/>
            <a:ext cx="1024128" cy="365760"/>
          </a:xfrm>
          <a:prstGeom prst="rect">
            <a:avLst/>
          </a:prstGeom>
          <a:solidFill>
            <a:srgbClr val="202A3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65760" y="1225296"/>
            <a:ext cx="9509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417320" y="1225296"/>
            <a:ext cx="1298448" cy="365760"/>
          </a:xfrm>
          <a:prstGeom prst="rect">
            <a:avLst/>
          </a:prstGeom>
          <a:solidFill>
            <a:srgbClr val="202A3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453896" y="1225296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Weather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788920" y="1225296"/>
            <a:ext cx="1298448" cy="365760"/>
          </a:xfrm>
          <a:prstGeom prst="rect">
            <a:avLst/>
          </a:prstGeom>
          <a:solidFill>
            <a:srgbClr val="202A3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825496" y="1225296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+Construction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160520" y="1225296"/>
            <a:ext cx="1170432" cy="365760"/>
          </a:xfrm>
          <a:prstGeom prst="rect">
            <a:avLst/>
          </a:prstGeom>
          <a:solidFill>
            <a:srgbClr val="202A3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197096" y="1225296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29184" y="1645920"/>
            <a:ext cx="1024128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65760" y="1645920"/>
            <a:ext cx="9509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417320" y="1645920"/>
            <a:ext cx="1298448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453896" y="1645920"/>
            <a:ext cx="1225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31.94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788920" y="1645920"/>
            <a:ext cx="1298448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2825496" y="1645920"/>
            <a:ext cx="1225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Georgia"/>
                <a:ea typeface="Georgia"/>
                <a:cs typeface="Georgia"/>
                <a:sym typeface="Georgia"/>
              </a:rPr>
              <a:t>29.53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160520" y="1645920"/>
            <a:ext cx="1170432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197096" y="1645920"/>
            <a:ext cx="1097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Georgia"/>
                <a:ea typeface="Georgia"/>
                <a:cs typeface="Georgia"/>
                <a:sym typeface="Georgia"/>
              </a:rPr>
              <a:t>↓ 7.5%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29184" y="2304288"/>
            <a:ext cx="1024128" cy="603504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65760" y="2304288"/>
            <a:ext cx="9509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417320" y="2304288"/>
            <a:ext cx="1298448" cy="603504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1453896" y="2304288"/>
            <a:ext cx="1225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20.78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788920" y="2304288"/>
            <a:ext cx="1298448" cy="603504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825496" y="2304288"/>
            <a:ext cx="1225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Georgia"/>
                <a:ea typeface="Georgia"/>
                <a:cs typeface="Georgia"/>
                <a:sym typeface="Georgia"/>
              </a:rPr>
              <a:t>19.40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160520" y="2304288"/>
            <a:ext cx="1170432" cy="603504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197096" y="2304288"/>
            <a:ext cx="1097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Georgia"/>
                <a:ea typeface="Georgia"/>
                <a:cs typeface="Georgia"/>
                <a:sym typeface="Georgia"/>
              </a:rPr>
              <a:t>↓ 6.6%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29184" y="2962656"/>
            <a:ext cx="1024128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65760" y="2962656"/>
            <a:ext cx="95097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417320" y="2962656"/>
            <a:ext cx="1298448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453896" y="2962656"/>
            <a:ext cx="1225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0.353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788920" y="2962656"/>
            <a:ext cx="1298448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825496" y="2962656"/>
            <a:ext cx="1225296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Georgia"/>
                <a:ea typeface="Georgia"/>
                <a:cs typeface="Georgia"/>
                <a:sym typeface="Georgia"/>
              </a:rPr>
              <a:t>0.447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160520" y="2962656"/>
            <a:ext cx="1170432" cy="603504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197096" y="2962656"/>
            <a:ext cx="1097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Georgia"/>
                <a:ea typeface="Georgia"/>
                <a:cs typeface="Georgia"/>
                <a:sym typeface="Georgia"/>
              </a:rPr>
              <a:t>↑ 26.6%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29184" y="3730752"/>
            <a:ext cx="5010912" cy="329184"/>
          </a:xfrm>
          <a:prstGeom prst="rect">
            <a:avLst/>
          </a:prstGeom>
          <a:solidFill>
            <a:srgbClr val="1A2A1A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38912" y="3758184"/>
            <a:ext cx="4791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R² +26.6%: construction features explain an additional 9.4pp of AQI delta variance beyond weather alone.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623560" y="868680"/>
            <a:ext cx="3246120" cy="32918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5623560" y="868680"/>
            <a:ext cx="3246120" cy="310896"/>
          </a:xfrm>
          <a:prstGeom prst="rect">
            <a:avLst/>
          </a:prstGeom>
          <a:solidFill>
            <a:srgbClr val="26304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724144" y="886968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CLASSIFIER  —  Spike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687568" y="1225296"/>
            <a:ext cx="1024128" cy="438912"/>
          </a:xfrm>
          <a:prstGeom prst="rect">
            <a:avLst/>
          </a:prstGeom>
          <a:solidFill>
            <a:srgbClr val="202A3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724144" y="1225296"/>
            <a:ext cx="950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784848" y="1225296"/>
            <a:ext cx="932688" cy="438912"/>
          </a:xfrm>
          <a:prstGeom prst="rect">
            <a:avLst/>
          </a:prstGeom>
          <a:solidFill>
            <a:srgbClr val="202A3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821424" y="1225296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790688" y="1225296"/>
            <a:ext cx="987552" cy="438912"/>
          </a:xfrm>
          <a:prstGeom prst="rect">
            <a:avLst/>
          </a:prstGeom>
          <a:solidFill>
            <a:srgbClr val="202A3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7827264" y="122529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Model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687568" y="1700784"/>
            <a:ext cx="1024128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724144" y="1700784"/>
            <a:ext cx="950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Spike F1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784848" y="1700784"/>
            <a:ext cx="932688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821424" y="1700784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0.59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790688" y="1700784"/>
            <a:ext cx="987552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7827264" y="1700784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0.558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687568" y="2176272"/>
            <a:ext cx="1024128" cy="438912"/>
          </a:xfrm>
          <a:prstGeom prst="rect">
            <a:avLst/>
          </a:prstGeom>
          <a:solidFill>
            <a:srgbClr val="1A2B1A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724144" y="2176272"/>
            <a:ext cx="950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Spike 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784848" y="2176272"/>
            <a:ext cx="932688" cy="438912"/>
          </a:xfrm>
          <a:prstGeom prst="rect">
            <a:avLst/>
          </a:prstGeom>
          <a:solidFill>
            <a:srgbClr val="1A2B1A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821424" y="2176272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790688" y="2176272"/>
            <a:ext cx="987552" cy="438912"/>
          </a:xfrm>
          <a:prstGeom prst="rect">
            <a:avLst/>
          </a:prstGeom>
          <a:solidFill>
            <a:srgbClr val="1A2B1A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7827264" y="2176272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3B341"/>
                </a:solidFill>
                <a:latin typeface="Georgia"/>
                <a:ea typeface="Georgia"/>
                <a:cs typeface="Georgia"/>
                <a:sym typeface="Georgia"/>
              </a:rPr>
              <a:t>0.840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687568" y="2651760"/>
            <a:ext cx="1024128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724144" y="2651760"/>
            <a:ext cx="950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Spike Prec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784848" y="2651760"/>
            <a:ext cx="932688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6821424" y="2651760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0.54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790688" y="2651760"/>
            <a:ext cx="987552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7827264" y="2651760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0.418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687568" y="3127248"/>
            <a:ext cx="1024128" cy="438912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5724144" y="3127248"/>
            <a:ext cx="950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Wt. F1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784848" y="3127248"/>
            <a:ext cx="932688" cy="438912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821424" y="3127248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790688" y="3127248"/>
            <a:ext cx="987552" cy="438912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7827264" y="312724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0.750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687568" y="3602736"/>
            <a:ext cx="1024128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724144" y="3602736"/>
            <a:ext cx="950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784848" y="3602736"/>
            <a:ext cx="932688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821424" y="3602736"/>
            <a:ext cx="8595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7790688" y="3602736"/>
            <a:ext cx="987552" cy="438912"/>
          </a:xfrm>
          <a:prstGeom prst="rect">
            <a:avLst/>
          </a:prstGeom>
          <a:solidFill>
            <a:srgbClr val="222836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7827264" y="3602736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0.724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623560" y="3730752"/>
            <a:ext cx="3246120" cy="329184"/>
          </a:xfrm>
          <a:prstGeom prst="rect">
            <a:avLst/>
          </a:prstGeom>
          <a:solidFill>
            <a:srgbClr val="1A2A1A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724144" y="375818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Recall 0.84 vs 0.66 — catches 27% more real spikes.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D1A0D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57200" y="42702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Georgia"/>
                <a:ea typeface="Georgia"/>
                <a:cs typeface="Georgia"/>
                <a:sym typeface="Georgia"/>
              </a:rPr>
              <a:t>H2 SUPPORTED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2606040" y="4270248"/>
            <a:ext cx="6126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B wins on RMSE (−7.5%), MAE (−6.6%), R² (+26.6%), and spike recall (+27%). Construction intensity adds real predictive signal beyond weather.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606040" y="4645152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Caveat: proxy directly modifies PM10/PM2.5 — real permit data needed to fully confirm.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06  LIMITATIONS &amp; FUTURE 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Honest constraints + research roadmap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74320" y="1097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74320" y="1463040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74320" y="1463040"/>
            <a:ext cx="64008" cy="74980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57200" y="15087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Construction Proxy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7200" y="176479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Simulated — not from real permit or satellite data. Primary methodological weakness.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74320" y="2267712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274320" y="2267712"/>
            <a:ext cx="64008" cy="74980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57200" y="231343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Spatial Resolution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57200" y="2569464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City-level only. Cannot capture within-city construction hotspots near AQI stations.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74320" y="3072384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274320" y="3072384"/>
            <a:ext cx="64008" cy="74980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457200" y="31181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Causality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3374136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Observational model — shows correlation, not causation.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74320" y="3877056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274320" y="3877056"/>
            <a:ext cx="64008" cy="749808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57200" y="39227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57200" y="4178808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Spike events are ~21% of data (868/4195). Affects classifier F1.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846320" y="1097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FUTURE EXTENSIONS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846320" y="1463040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4846320" y="1463040"/>
            <a:ext cx="64008" cy="7498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029200" y="15087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Real Construction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029200" y="176479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Municipal building permits (BBMP/GHMC) + satellite proxies via academic collaboration.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846320" y="2267712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4846320" y="2267712"/>
            <a:ext cx="64008" cy="7498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5029200" y="231343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GIS Spatial Modeling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029200" y="2569464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Match AQI stations with construction sites within 500m radius.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846320" y="3072384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4846320" y="3072384"/>
            <a:ext cx="64008" cy="7498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029200" y="31181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Real-Time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029200" y="3374136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Live streaming ingestion with real-time LightGBM inference + alerting.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846320" y="3877056"/>
            <a:ext cx="402336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4846320" y="3877056"/>
            <a:ext cx="64008" cy="7498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5029200" y="39227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Publication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029200" y="4178808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Environmental ML venues — IJCAI workshop, AAAI env. track.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/>
          <p:nvPr/>
        </p:nvSpPr>
        <p:spPr>
          <a:xfrm>
            <a:off x="457200" y="2286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07  EXPECTED 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57200" y="5943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Why this research matters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74320" y="1143000"/>
            <a:ext cx="4160400" cy="1737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11480" y="1252728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0883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005840" y="128016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Quantitative Evidence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11480" y="1737360"/>
            <a:ext cx="3886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First ML-based quantification of construction's marginal AQI contribution across 21 Indian cities — filling a real gap in urban air quality literature.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709160" y="1143000"/>
            <a:ext cx="4160400" cy="1737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846327" y="1252725"/>
            <a:ext cx="773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8A6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440680" y="128016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Better Forecasting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46320" y="1737360"/>
            <a:ext cx="3886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Adding construction features can improve short-term AQI forecasting accuracy, enabling earlier public health warnings in urban areas.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74320" y="3063240"/>
            <a:ext cx="4160400" cy="1737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11475" y="3172975"/>
            <a:ext cx="99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3FB95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1005840" y="320040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Policy Insight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11480" y="3657600"/>
            <a:ext cx="3886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Results can directly inform municipal construction scheduling — restricting high-intensity work during predicted high-pollution periods.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709160" y="3063240"/>
            <a:ext cx="4160400" cy="1737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846328" y="3172972"/>
            <a:ext cx="77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E3B341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440680" y="320040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Research Foundation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846320" y="3657600"/>
            <a:ext cx="3886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Replicable methodology extendable to traffic, industry, and crop burning — broader anthropogenic AQI modelling framework.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274320" y="4736592"/>
            <a:ext cx="8595300" cy="255900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57200" y="4754880"/>
            <a:ext cx="8321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Seeking academic collaboration for real construction data access and methodology guidance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08  NEXT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Georgia"/>
                <a:ea typeface="Georgia"/>
                <a:cs typeface="Georgia"/>
                <a:sym typeface="Georgia"/>
              </a:rPr>
              <a:t>From baseline to production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65760" y="1325880"/>
            <a:ext cx="841248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365760" y="1325880"/>
            <a:ext cx="64008" cy="749808"/>
          </a:xfrm>
          <a:prstGeom prst="rect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594360" y="1389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8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0883E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1828800" y="13898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594360" y="166420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Build Model A (weather-only baseline). Run head-to-head comparison. Document RMSE/MAE/F1 results.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65760" y="2167128"/>
            <a:ext cx="841248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365760" y="2167128"/>
            <a:ext cx="64008" cy="74980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594360" y="22311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828800" y="223113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94360" y="2505456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Connect with faculty for research guidance. Share deck + GitHub link.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65760" y="3008376"/>
            <a:ext cx="841248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365760" y="3008376"/>
            <a:ext cx="64008" cy="749808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594360" y="30723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Q2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828800" y="307238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94360" y="3346704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Obtain real construction permit data. Replace proxy. Rerun models. Quantify improvement.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65760" y="3849624"/>
            <a:ext cx="8412480" cy="749808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65760" y="3849624"/>
            <a:ext cx="64008" cy="7498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594360" y="39136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Jan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1828800" y="391363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94360" y="418795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Full production pipeline: FastAPI + Docker + AWS + real-time ingestion. Research writeup complete.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https://github.com/adityandandia/AQI-Construction-Impact</a:t>
            </a:r>
            <a:r>
              <a:rPr b="0" i="0" lang="en-US" sz="9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 ·  Prepared March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